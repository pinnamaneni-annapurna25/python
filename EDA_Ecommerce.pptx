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Revenue by category (millions)</a:t>
            </a:r>
          </a:p>
        </c:rich>
      </c:tx>
      <c:layout/>
      <c:overlay val="0"/>
    </c:title>
    <c:autoTitleDeleted val="0"/>
    <c:plotArea>
      <c:layout/>
      <c:barChart>
        <c:barDir val="bar"/>
        <c:grouping val="clustered"/>
        <c:varyColors val="0"/>
        <c:ser>
          <c:idx val="0"/>
          <c:order val="0"/>
          <c:tx>
            <c:strRef>
              <c:f>Sheet1!$B$1</c:f>
              <c:strCache>
                <c:ptCount val="1"/>
                <c:pt idx="0">
                  <c:v>Net sales (millions)</c:v>
                </c:pt>
              </c:strCache>
            </c:strRef>
          </c:tx>
          <c:spPr>
            <a:solidFill>
              <a:srgbClr val="5EE0A0"/>
            </a:solidFill>
            <a:effectLst/>
          </c:spPr>
          <c:invertIfNegative val="0"/>
          <c:dLbls>
            <c:numFmt formatCode="0.0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Sheet1!$A$2:$A$9</c:f>
              <c:multiLvlStrCache>
                <c:ptCount val="8"/>
                <c:lvl>
                  <c:pt idx="0">
                    <c:v>Fashion</c:v>
                  </c:pt>
                  <c:pt idx="1">
                    <c:v>Sports</c:v>
                  </c:pt>
                  <c:pt idx="2">
                    <c:v>Grocery</c:v>
                  </c:pt>
                  <c:pt idx="3">
                    <c:v>Home Appl.</c:v>
                  </c:pt>
                  <c:pt idx="4">
                    <c:v>Books</c:v>
                  </c:pt>
                  <c:pt idx="5">
                    <c:v>Furniture</c:v>
                  </c:pt>
                  <c:pt idx="6">
                    <c:v>Beauty</c:v>
                  </c:pt>
                  <c:pt idx="7">
                    <c:v>Electronics</c:v>
                  </c:pt>
                </c:lvl>
              </c:multiLvlStrCache>
            </c:multiLvlStrRef>
          </c:cat>
          <c:val>
            <c:numRef>
              <c:f>Sheet1!$B$2:$B$9</c:f>
              <c:numCache>
                <c:formatCode>General</c:formatCode>
                <c:ptCount val="8"/>
                <c:pt idx="0">
                  <c:v>1.83</c:v>
                </c:pt>
                <c:pt idx="1">
                  <c:v>1.75</c:v>
                </c:pt>
                <c:pt idx="2">
                  <c:v>1.72</c:v>
                </c:pt>
                <c:pt idx="3">
                  <c:v>1.64</c:v>
                </c:pt>
                <c:pt idx="4">
                  <c:v>1.57</c:v>
                </c:pt>
                <c:pt idx="5">
                  <c:v>1.57</c:v>
                </c:pt>
                <c:pt idx="6">
                  <c:v>1.51</c:v>
                </c:pt>
                <c:pt idx="7">
                  <c:v>1.43</c:v>
                </c:pt>
              </c:numCache>
            </c:numRef>
          </c:val>
        </c:ser>
        <c:dLbls>
          <c:numFmt formatCode="0.0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11593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BFEBD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Sales and profit by order status (millions)</a:t>
            </a:r>
          </a:p>
        </c:rich>
      </c:tx>
      <c:layout/>
      <c:overlay val="0"/>
    </c:title>
    <c:autoTitleDeleted val="0"/>
    <c:plotArea>
      <c:layout/>
      <c:barChart>
        <c:barDir val="col"/>
        <c:grouping val="clustered"/>
        <c:varyColors val="0"/>
        <c:ser>
          <c:idx val="0"/>
          <c:order val="0"/>
          <c:tx>
            <c:strRef>
              <c:f>Sheet1!$B$1</c:f>
              <c:strCache>
                <c:ptCount val="1"/>
                <c:pt idx="0">
                  <c:v>Net sales (M)</c:v>
                </c:pt>
              </c:strCache>
            </c:strRef>
          </c:tx>
          <c:spPr>
            <a:solidFill>
              <a:srgbClr val="5EE0A0"/>
            </a:solidFill>
            <a:effectLst/>
          </c:spPr>
          <c:invertIfNegative val="0"/>
          <c:dLbls>
            <c:numFmt formatCode="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Delivered</c:v>
                  </c:pt>
                  <c:pt idx="1">
                    <c:v>Returned</c:v>
                  </c:pt>
                  <c:pt idx="2">
                    <c:v>Pending</c:v>
                  </c:pt>
                  <c:pt idx="3">
                    <c:v>Delayed</c:v>
                  </c:pt>
                  <c:pt idx="4">
                    <c:v>Cancelled</c:v>
                  </c:pt>
                </c:lvl>
              </c:multiLvlStrCache>
            </c:multiLvlStrRef>
          </c:cat>
          <c:val>
            <c:numRef>
              <c:f>Sheet1!$B$2:$B$6</c:f>
              <c:numCache>
                <c:formatCode>General</c:formatCode>
                <c:ptCount val="5"/>
                <c:pt idx="0">
                  <c:v>9.35</c:v>
                </c:pt>
                <c:pt idx="1">
                  <c:v>1.32</c:v>
                </c:pt>
                <c:pt idx="2">
                  <c:v>0.92</c:v>
                </c:pt>
                <c:pt idx="3">
                  <c:v>0.72</c:v>
                </c:pt>
                <c:pt idx="4">
                  <c:v>0.72</c:v>
                </c:pt>
              </c:numCache>
            </c:numRef>
          </c:val>
        </c:ser>
        <c:ser>
          <c:idx val="1"/>
          <c:order val="1"/>
          <c:tx>
            <c:strRef>
              <c:f>Sheet1!$C$1</c:f>
              <c:strCache>
                <c:ptCount val="1"/>
                <c:pt idx="0">
                  <c:v>Profit (M)</c:v>
                </c:pt>
              </c:strCache>
            </c:strRef>
          </c:tx>
          <c:spPr>
            <a:solidFill>
              <a:srgbClr val="F2C94C"/>
            </a:solidFill>
            <a:effectLst/>
          </c:spPr>
          <c:invertIfNegative val="0"/>
          <c:dLbls>
            <c:numFmt formatCode="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Delivered</c:v>
                  </c:pt>
                  <c:pt idx="1">
                    <c:v>Returned</c:v>
                  </c:pt>
                  <c:pt idx="2">
                    <c:v>Pending</c:v>
                  </c:pt>
                  <c:pt idx="3">
                    <c:v>Delayed</c:v>
                  </c:pt>
                  <c:pt idx="4">
                    <c:v>Cancelled</c:v>
                  </c:pt>
                </c:lvl>
              </c:multiLvlStrCache>
            </c:multiLvlStrRef>
          </c:cat>
          <c:val>
            <c:numRef>
              <c:f>Sheet1!$C$2:$C$6</c:f>
              <c:numCache>
                <c:formatCode>General</c:formatCode>
                <c:ptCount val="5"/>
                <c:pt idx="0">
                  <c:v>2.74</c:v>
                </c:pt>
                <c:pt idx="1">
                  <c:v>0.43</c:v>
                </c:pt>
                <c:pt idx="2">
                  <c:v>0.27</c:v>
                </c:pt>
                <c:pt idx="3">
                  <c:v>0.22</c:v>
                </c:pt>
                <c:pt idx="4">
                  <c:v>0.24</c:v>
                </c:pt>
              </c:numCache>
            </c:numRef>
          </c:val>
        </c:ser>
        <c:dLbls>
          <c:numFmt formatCode="0.0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159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FEBD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FFFFF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Average net sales by discount group</a:t>
            </a:r>
          </a:p>
        </c:rich>
      </c:tx>
      <c:layout/>
      <c:overlay val="0"/>
    </c:title>
    <c:autoTitleDeleted val="0"/>
    <c:plotArea>
      <c:layout/>
      <c:barChart>
        <c:barDir val="col"/>
        <c:grouping val="clustered"/>
        <c:varyColors val="0"/>
        <c:ser>
          <c:idx val="0"/>
          <c:order val="0"/>
          <c:tx>
            <c:strRef>
              <c:f>Sheet1!$B$1</c:f>
              <c:strCache>
                <c:ptCount val="1"/>
                <c:pt idx="0">
                  <c:v>Avg net sales</c:v>
                </c:pt>
              </c:strCache>
            </c:strRef>
          </c:tx>
          <c:spPr>
            <a:solidFill>
              <a:srgbClr val="5EE0A0"/>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0-10%</c:v>
                  </c:pt>
                  <c:pt idx="1">
                    <c:v>10-20%</c:v>
                  </c:pt>
                  <c:pt idx="2">
                    <c:v>20-30%</c:v>
                  </c:pt>
                  <c:pt idx="3">
                    <c:v>30-40%</c:v>
                  </c:pt>
                  <c:pt idx="4">
                    <c:v>40%+</c:v>
                  </c:pt>
                </c:lvl>
              </c:multiLvlStrCache>
            </c:multiLvlStrRef>
          </c:cat>
          <c:val>
            <c:numRef>
              <c:f>Sheet1!$B$2:$B$6</c:f>
              <c:numCache>
                <c:formatCode>General</c:formatCode>
                <c:ptCount val="5"/>
                <c:pt idx="0">
                  <c:v>5050</c:v>
                </c:pt>
                <c:pt idx="1">
                  <c:v>4255</c:v>
                </c:pt>
                <c:pt idx="2">
                  <c:v>3839</c:v>
                </c:pt>
                <c:pt idx="3">
                  <c:v>3463</c:v>
                </c:pt>
                <c:pt idx="4">
                  <c:v>2047</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159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FEBD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640080" y="128016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Exploratory Data Analysis</a:t>
            </a:r>
            <a:endParaRPr lang="en-US" sz="4400" dirty="0"/>
          </a:p>
        </p:txBody>
      </p:sp>
      <p:sp>
        <p:nvSpPr>
          <p:cNvPr id="3" name="Text 1"/>
          <p:cNvSpPr txBox="1"/>
          <p:nvPr/>
        </p:nvSpPr>
        <p:spPr>
          <a:xfrm>
            <a:off x="640080" y="2377440"/>
            <a:ext cx="7863840" cy="457200"/>
          </a:xfrm>
          <a:prstGeom prst="rect">
            <a:avLst/>
          </a:prstGeom>
          <a:noFill/>
          <a:ln/>
        </p:spPr>
        <p:txBody>
          <a:bodyPr wrap="square" lIns="0" tIns="0" rIns="0" bIns="0" rtlCol="0" anchor="ctr"/>
          <a:lstStyle/>
          <a:p>
            <a:pPr indent="0" marL="0">
              <a:buNone/>
            </a:pPr>
            <a:r>
              <a:rPr lang="en-US" sz="2000" dirty="0">
                <a:solidFill>
                  <a:srgbClr val="5EE0A0"/>
                </a:solidFill>
                <a:latin typeface="Calibri" pitchFamily="34" charset="0"/>
                <a:ea typeface="Calibri" pitchFamily="34" charset="-122"/>
                <a:cs typeface="Calibri" pitchFamily="34" charset="-120"/>
              </a:rPr>
              <a:t>The EDA process, step by step, on an E-Commerce customer dataset</a:t>
            </a:r>
            <a:endParaRPr lang="en-US" sz="2000" dirty="0"/>
          </a:p>
        </p:txBody>
      </p:sp>
      <p:sp>
        <p:nvSpPr>
          <p:cNvPr id="4" name="Text 2"/>
          <p:cNvSpPr txBox="1"/>
          <p:nvPr/>
        </p:nvSpPr>
        <p:spPr>
          <a:xfrm>
            <a:off x="640080" y="3200400"/>
            <a:ext cx="7863840" cy="365760"/>
          </a:xfrm>
          <a:prstGeom prst="rect">
            <a:avLst/>
          </a:prstGeom>
          <a:noFill/>
          <a:ln/>
        </p:spPr>
        <p:txBody>
          <a:bodyPr wrap="square" lIns="0" tIns="0" rIns="0" bIns="0" rtlCol="0" anchor="ctr"/>
          <a:lstStyle/>
          <a:p>
            <a:pPr indent="0" marL="0">
              <a:buNone/>
            </a:pPr>
            <a:r>
              <a:rPr lang="en-US" sz="1400" dirty="0">
                <a:solidFill>
                  <a:srgbClr val="BFEBD3"/>
                </a:solidFill>
                <a:latin typeface="Calibri" pitchFamily="34" charset="0"/>
                <a:ea typeface="Calibri" pitchFamily="34" charset="-122"/>
                <a:cs typeface="Calibri" pitchFamily="34" charset="-120"/>
              </a:rPr>
              <a:t>3,055 orders  |  32 columns  |  Python: pandas, NumPy, Matplotlib, Seaborn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EDA?</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Understand and clean the data before drawing conclusions or building models</a:t>
            </a:r>
            <a:endParaRPr lang="en-US" sz="1300" dirty="0"/>
          </a:p>
        </p:txBody>
      </p:sp>
      <p:sp>
        <p:nvSpPr>
          <p:cNvPr id="4" name="Shape 2"/>
          <p:cNvSpPr/>
          <p:nvPr/>
        </p:nvSpPr>
        <p:spPr>
          <a:xfrm>
            <a:off x="457200" y="1463040"/>
            <a:ext cx="1280160" cy="1097280"/>
          </a:xfrm>
          <a:prstGeom prst="roundRect">
            <a:avLst>
              <a:gd name="adj" fmla="val 6667"/>
            </a:avLst>
          </a:prstGeom>
          <a:solidFill>
            <a:srgbClr val="11593F"/>
          </a:solidFill>
          <a:ln w="12700">
            <a:solidFill>
              <a:srgbClr val="11593F"/>
            </a:solidFill>
            <a:prstDash val="solid"/>
          </a:ln>
        </p:spPr>
      </p:sp>
      <p:sp>
        <p:nvSpPr>
          <p:cNvPr id="5" name="Text 3"/>
          <p:cNvSpPr txBox="1"/>
          <p:nvPr/>
        </p:nvSpPr>
        <p:spPr>
          <a:xfrm>
            <a:off x="457200"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502920"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Load &amp; inspect</a:t>
            </a:r>
            <a:endParaRPr lang="en-US" sz="1200" dirty="0"/>
          </a:p>
        </p:txBody>
      </p:sp>
      <p:sp>
        <p:nvSpPr>
          <p:cNvPr id="7" name="Shape 5"/>
          <p:cNvSpPr/>
          <p:nvPr/>
        </p:nvSpPr>
        <p:spPr>
          <a:xfrm>
            <a:off x="1847088" y="1463040"/>
            <a:ext cx="1280160" cy="1097280"/>
          </a:xfrm>
          <a:prstGeom prst="roundRect">
            <a:avLst>
              <a:gd name="adj" fmla="val 6667"/>
            </a:avLst>
          </a:prstGeom>
          <a:solidFill>
            <a:srgbClr val="11593F"/>
          </a:solidFill>
          <a:ln w="12700">
            <a:solidFill>
              <a:srgbClr val="11593F"/>
            </a:solidFill>
            <a:prstDash val="solid"/>
          </a:ln>
        </p:spPr>
      </p:sp>
      <p:sp>
        <p:nvSpPr>
          <p:cNvPr id="8" name="Text 6"/>
          <p:cNvSpPr txBox="1"/>
          <p:nvPr/>
        </p:nvSpPr>
        <p:spPr>
          <a:xfrm>
            <a:off x="1847088"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892808"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Check quality</a:t>
            </a:r>
            <a:endParaRPr lang="en-US" sz="1200" dirty="0"/>
          </a:p>
        </p:txBody>
      </p:sp>
      <p:sp>
        <p:nvSpPr>
          <p:cNvPr id="10" name="Shape 8"/>
          <p:cNvSpPr/>
          <p:nvPr/>
        </p:nvSpPr>
        <p:spPr>
          <a:xfrm>
            <a:off x="3236976" y="1463040"/>
            <a:ext cx="1280160" cy="1097280"/>
          </a:xfrm>
          <a:prstGeom prst="roundRect">
            <a:avLst>
              <a:gd name="adj" fmla="val 6667"/>
            </a:avLst>
          </a:prstGeom>
          <a:solidFill>
            <a:srgbClr val="11593F"/>
          </a:solidFill>
          <a:ln w="12700">
            <a:solidFill>
              <a:srgbClr val="11593F"/>
            </a:solidFill>
            <a:prstDash val="solid"/>
          </a:ln>
        </p:spPr>
      </p:sp>
      <p:sp>
        <p:nvSpPr>
          <p:cNvPr id="11" name="Text 9"/>
          <p:cNvSpPr txBox="1"/>
          <p:nvPr/>
        </p:nvSpPr>
        <p:spPr>
          <a:xfrm>
            <a:off x="3236976"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3</a:t>
            </a:r>
            <a:endParaRPr lang="en-US" sz="1800" dirty="0"/>
          </a:p>
        </p:txBody>
      </p:sp>
      <p:sp>
        <p:nvSpPr>
          <p:cNvPr id="12" name="Text 10"/>
          <p:cNvSpPr txBox="1"/>
          <p:nvPr/>
        </p:nvSpPr>
        <p:spPr>
          <a:xfrm>
            <a:off x="3282696"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Clean</a:t>
            </a:r>
            <a:endParaRPr lang="en-US" sz="1200" dirty="0"/>
          </a:p>
        </p:txBody>
      </p:sp>
      <p:sp>
        <p:nvSpPr>
          <p:cNvPr id="13" name="Shape 11"/>
          <p:cNvSpPr/>
          <p:nvPr/>
        </p:nvSpPr>
        <p:spPr>
          <a:xfrm>
            <a:off x="4626864" y="1463040"/>
            <a:ext cx="1280160" cy="1097280"/>
          </a:xfrm>
          <a:prstGeom prst="roundRect">
            <a:avLst>
              <a:gd name="adj" fmla="val 6667"/>
            </a:avLst>
          </a:prstGeom>
          <a:solidFill>
            <a:srgbClr val="11593F"/>
          </a:solidFill>
          <a:ln w="12700">
            <a:solidFill>
              <a:srgbClr val="11593F"/>
            </a:solidFill>
            <a:prstDash val="solid"/>
          </a:ln>
        </p:spPr>
      </p:sp>
      <p:sp>
        <p:nvSpPr>
          <p:cNvPr id="14" name="Text 12"/>
          <p:cNvSpPr txBox="1"/>
          <p:nvPr/>
        </p:nvSpPr>
        <p:spPr>
          <a:xfrm>
            <a:off x="4626864"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4</a:t>
            </a:r>
            <a:endParaRPr lang="en-US" sz="1800" dirty="0"/>
          </a:p>
        </p:txBody>
      </p:sp>
      <p:sp>
        <p:nvSpPr>
          <p:cNvPr id="15" name="Text 13"/>
          <p:cNvSpPr txBox="1"/>
          <p:nvPr/>
        </p:nvSpPr>
        <p:spPr>
          <a:xfrm>
            <a:off x="4672584"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Detect outliers</a:t>
            </a:r>
            <a:endParaRPr lang="en-US" sz="1200" dirty="0"/>
          </a:p>
        </p:txBody>
      </p:sp>
      <p:sp>
        <p:nvSpPr>
          <p:cNvPr id="16" name="Shape 14"/>
          <p:cNvSpPr/>
          <p:nvPr/>
        </p:nvSpPr>
        <p:spPr>
          <a:xfrm>
            <a:off x="6016752" y="1463040"/>
            <a:ext cx="1280160" cy="1097280"/>
          </a:xfrm>
          <a:prstGeom prst="roundRect">
            <a:avLst>
              <a:gd name="adj" fmla="val 6667"/>
            </a:avLst>
          </a:prstGeom>
          <a:solidFill>
            <a:srgbClr val="11593F"/>
          </a:solidFill>
          <a:ln w="12700">
            <a:solidFill>
              <a:srgbClr val="11593F"/>
            </a:solidFill>
            <a:prstDash val="solid"/>
          </a:ln>
        </p:spPr>
      </p:sp>
      <p:sp>
        <p:nvSpPr>
          <p:cNvPr id="17" name="Text 15"/>
          <p:cNvSpPr txBox="1"/>
          <p:nvPr/>
        </p:nvSpPr>
        <p:spPr>
          <a:xfrm>
            <a:off x="6016752"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5</a:t>
            </a:r>
            <a:endParaRPr lang="en-US" sz="1800" dirty="0"/>
          </a:p>
        </p:txBody>
      </p:sp>
      <p:sp>
        <p:nvSpPr>
          <p:cNvPr id="18" name="Text 16"/>
          <p:cNvSpPr txBox="1"/>
          <p:nvPr/>
        </p:nvSpPr>
        <p:spPr>
          <a:xfrm>
            <a:off x="6062472"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Analyze &amp; visualize</a:t>
            </a:r>
            <a:endParaRPr lang="en-US" sz="1200" dirty="0"/>
          </a:p>
        </p:txBody>
      </p:sp>
      <p:sp>
        <p:nvSpPr>
          <p:cNvPr id="19" name="Shape 17"/>
          <p:cNvSpPr/>
          <p:nvPr/>
        </p:nvSpPr>
        <p:spPr>
          <a:xfrm>
            <a:off x="7406640" y="1463040"/>
            <a:ext cx="1280160" cy="1097280"/>
          </a:xfrm>
          <a:prstGeom prst="roundRect">
            <a:avLst>
              <a:gd name="adj" fmla="val 6667"/>
            </a:avLst>
          </a:prstGeom>
          <a:solidFill>
            <a:srgbClr val="11593F"/>
          </a:solidFill>
          <a:ln w="12700">
            <a:solidFill>
              <a:srgbClr val="11593F"/>
            </a:solidFill>
            <a:prstDash val="solid"/>
          </a:ln>
        </p:spPr>
      </p:sp>
      <p:sp>
        <p:nvSpPr>
          <p:cNvPr id="20" name="Text 18"/>
          <p:cNvSpPr txBox="1"/>
          <p:nvPr/>
        </p:nvSpPr>
        <p:spPr>
          <a:xfrm>
            <a:off x="7406640" y="1508760"/>
            <a:ext cx="1280160" cy="365760"/>
          </a:xfrm>
          <a:prstGeom prst="rect">
            <a:avLst/>
          </a:prstGeom>
          <a:noFill/>
          <a:ln/>
        </p:spPr>
        <p:txBody>
          <a:bodyPr wrap="square" lIns="0" tIns="0" rIns="0" bIns="0" rtlCol="0" anchor="ctr"/>
          <a:lstStyle/>
          <a:p>
            <a:pPr algn="ctr" indent="0" marL="0">
              <a:buNone/>
            </a:pPr>
            <a:r>
              <a:rPr lang="en-US" sz="1800" b="1" dirty="0">
                <a:solidFill>
                  <a:srgbClr val="5EE0A0"/>
                </a:solidFill>
                <a:latin typeface="Calibri" pitchFamily="34" charset="0"/>
                <a:ea typeface="Calibri" pitchFamily="34" charset="-122"/>
                <a:cs typeface="Calibri" pitchFamily="34" charset="-120"/>
              </a:rPr>
              <a:t>6</a:t>
            </a:r>
            <a:endParaRPr lang="en-US" sz="1800" dirty="0"/>
          </a:p>
        </p:txBody>
      </p:sp>
      <p:sp>
        <p:nvSpPr>
          <p:cNvPr id="21" name="Text 19"/>
          <p:cNvSpPr txBox="1"/>
          <p:nvPr/>
        </p:nvSpPr>
        <p:spPr>
          <a:xfrm>
            <a:off x="7452360" y="192024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Conclude</a:t>
            </a:r>
            <a:endParaRPr lang="en-US" sz="1200" dirty="0"/>
          </a:p>
        </p:txBody>
      </p:sp>
      <p:sp>
        <p:nvSpPr>
          <p:cNvPr id="22" name="Shape 20"/>
          <p:cNvSpPr/>
          <p:nvPr/>
        </p:nvSpPr>
        <p:spPr>
          <a:xfrm>
            <a:off x="457200" y="2788920"/>
            <a:ext cx="8229600" cy="1600200"/>
          </a:xfrm>
          <a:prstGeom prst="roundRect">
            <a:avLst>
              <a:gd name="adj" fmla="val 4571"/>
            </a:avLst>
          </a:prstGeom>
          <a:solidFill>
            <a:srgbClr val="11593F"/>
          </a:solidFill>
          <a:ln w="12700">
            <a:solidFill>
              <a:srgbClr val="11593F"/>
            </a:solidFill>
            <a:prstDash val="solid"/>
          </a:ln>
        </p:spPr>
      </p:sp>
      <p:sp>
        <p:nvSpPr>
          <p:cNvPr id="23" name="Text 21"/>
          <p:cNvSpPr txBox="1"/>
          <p:nvPr/>
        </p:nvSpPr>
        <p:spPr>
          <a:xfrm>
            <a:off x="594360" y="2880360"/>
            <a:ext cx="795528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Why it matters</a:t>
            </a:r>
            <a:endParaRPr lang="en-US" sz="1400" dirty="0"/>
          </a:p>
        </p:txBody>
      </p:sp>
      <p:sp>
        <p:nvSpPr>
          <p:cNvPr id="24" name="Text 22"/>
          <p:cNvSpPr txBox="1"/>
          <p:nvPr/>
        </p:nvSpPr>
        <p:spPr>
          <a:xfrm>
            <a:off x="594360" y="3264408"/>
            <a:ext cx="7955280" cy="1033272"/>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EDA shows what the data contains, where it is broken, and which questions it can answer. In this notebook, cleaning took the data from 3,055 to 3,005 usable rows, and four business questions were then answered with grouped summaries, correlations and charts.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Step 1: Load and inspect</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First look at shape, columns, types and sample rows</a:t>
            </a:r>
            <a:endParaRPr lang="en-US" sz="1300" dirty="0"/>
          </a:p>
        </p:txBody>
      </p:sp>
      <p:sp>
        <p:nvSpPr>
          <p:cNvPr id="4" name="Shape 2"/>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5" name="Text 3"/>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Commands used</a:t>
            </a:r>
            <a:endParaRPr lang="en-US" sz="1400" dirty="0"/>
          </a:p>
        </p:txBody>
      </p:sp>
      <p:sp>
        <p:nvSpPr>
          <p:cNvPr id="6" name="Text 4"/>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pd.read_csv() to load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df.shape: (3055, 32)</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df.columns, df.head(10)</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df.info(): types and non-null counts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df.describe(): mean, std, min, max</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select_dtypes(): split numeric vs text</a:t>
            </a:r>
            <a:endParaRPr lang="en-US" sz="1200" dirty="0"/>
          </a:p>
        </p:txBody>
      </p:sp>
      <p:sp>
        <p:nvSpPr>
          <p:cNvPr id="7" name="Shape 5"/>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8" name="Text 6"/>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What the data holds</a:t>
            </a:r>
            <a:endParaRPr lang="en-US" sz="1400" dirty="0"/>
          </a:p>
        </p:txBody>
      </p:sp>
      <p:sp>
        <p:nvSpPr>
          <p:cNvPr id="9" name="Text 7"/>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18 numeric columns (age, quantity, price, discount, ratings, sales, profit) and 14 text columns (customer, city, region, category, channel, status).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Describe() already hinted at problems: age of -13, quantity of -2, shipping days of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Step 2: Check data quality</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Four kinds of problems were found</a:t>
            </a:r>
            <a:endParaRPr lang="en-US" sz="1300" dirty="0"/>
          </a:p>
        </p:txBody>
      </p:sp>
      <p:sp>
        <p:nvSpPr>
          <p:cNvPr id="4" name="Shape 2"/>
          <p:cNvSpPr/>
          <p:nvPr/>
        </p:nvSpPr>
        <p:spPr>
          <a:xfrm>
            <a:off x="457200" y="1371600"/>
            <a:ext cx="1965960" cy="3017520"/>
          </a:xfrm>
          <a:prstGeom prst="roundRect">
            <a:avLst>
              <a:gd name="adj" fmla="val 3721"/>
            </a:avLst>
          </a:prstGeom>
          <a:solidFill>
            <a:srgbClr val="11593F"/>
          </a:solidFill>
          <a:ln w="12700">
            <a:solidFill>
              <a:srgbClr val="11593F"/>
            </a:solidFill>
            <a:prstDash val="solid"/>
          </a:ln>
        </p:spPr>
      </p:sp>
      <p:sp>
        <p:nvSpPr>
          <p:cNvPr id="5" name="Text 3"/>
          <p:cNvSpPr txBox="1"/>
          <p:nvPr/>
        </p:nvSpPr>
        <p:spPr>
          <a:xfrm>
            <a:off x="594360" y="1463040"/>
            <a:ext cx="16916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Missing values</a:t>
            </a:r>
            <a:endParaRPr lang="en-US" sz="1400" dirty="0"/>
          </a:p>
        </p:txBody>
      </p:sp>
      <p:sp>
        <p:nvSpPr>
          <p:cNvPr id="6" name="Text 4"/>
          <p:cNvSpPr txBox="1"/>
          <p:nvPr/>
        </p:nvSpPr>
        <p:spPr>
          <a:xfrm>
            <a:off x="594360" y="1847088"/>
            <a:ext cx="1691640" cy="245059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Customer_Rating 215</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Discount_Pct 153</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Loyalty points 125</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Customer_Age 123</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Shipping_Days 107</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Unit_Price 93</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Payment_Method 77</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City 76</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Session minutes 76</a:t>
            </a:r>
            <a:endParaRPr lang="en-US" sz="1050" dirty="0"/>
          </a:p>
        </p:txBody>
      </p:sp>
      <p:sp>
        <p:nvSpPr>
          <p:cNvPr id="7" name="Shape 5"/>
          <p:cNvSpPr/>
          <p:nvPr/>
        </p:nvSpPr>
        <p:spPr>
          <a:xfrm>
            <a:off x="2560320" y="1371600"/>
            <a:ext cx="1965960" cy="3017520"/>
          </a:xfrm>
          <a:prstGeom prst="roundRect">
            <a:avLst>
              <a:gd name="adj" fmla="val 3721"/>
            </a:avLst>
          </a:prstGeom>
          <a:solidFill>
            <a:srgbClr val="11593F"/>
          </a:solidFill>
          <a:ln w="12700">
            <a:solidFill>
              <a:srgbClr val="11593F"/>
            </a:solidFill>
            <a:prstDash val="solid"/>
          </a:ln>
        </p:spPr>
      </p:sp>
      <p:sp>
        <p:nvSpPr>
          <p:cNvPr id="8" name="Text 6"/>
          <p:cNvSpPr txBox="1"/>
          <p:nvPr/>
        </p:nvSpPr>
        <p:spPr>
          <a:xfrm>
            <a:off x="2697480" y="1463040"/>
            <a:ext cx="16916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Duplicates</a:t>
            </a:r>
            <a:endParaRPr lang="en-US" sz="1400" dirty="0"/>
          </a:p>
        </p:txBody>
      </p:sp>
      <p:sp>
        <p:nvSpPr>
          <p:cNvPr id="9" name="Text 7"/>
          <p:cNvSpPr txBox="1"/>
          <p:nvPr/>
        </p:nvSpPr>
        <p:spPr>
          <a:xfrm>
            <a:off x="2697480" y="1847088"/>
            <a:ext cx="1691640" cy="245059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50 fully duplicated rows found with df.duplicated().sum().</a:t>
            </a:r>
            <a:endParaRPr lang="en-US" sz="1150" dirty="0"/>
          </a:p>
        </p:txBody>
      </p:sp>
      <p:sp>
        <p:nvSpPr>
          <p:cNvPr id="10" name="Shape 8"/>
          <p:cNvSpPr/>
          <p:nvPr/>
        </p:nvSpPr>
        <p:spPr>
          <a:xfrm>
            <a:off x="4663440" y="1371600"/>
            <a:ext cx="1965960" cy="3017520"/>
          </a:xfrm>
          <a:prstGeom prst="roundRect">
            <a:avLst>
              <a:gd name="adj" fmla="val 3721"/>
            </a:avLst>
          </a:prstGeom>
          <a:solidFill>
            <a:srgbClr val="11593F"/>
          </a:solidFill>
          <a:ln w="12700">
            <a:solidFill>
              <a:srgbClr val="11593F"/>
            </a:solidFill>
            <a:prstDash val="solid"/>
          </a:ln>
        </p:spPr>
      </p:sp>
      <p:sp>
        <p:nvSpPr>
          <p:cNvPr id="11" name="Text 9"/>
          <p:cNvSpPr txBox="1"/>
          <p:nvPr/>
        </p:nvSpPr>
        <p:spPr>
          <a:xfrm>
            <a:off x="4800600" y="1463040"/>
            <a:ext cx="16916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Invalid values</a:t>
            </a:r>
            <a:endParaRPr lang="en-US" sz="1400" dirty="0"/>
          </a:p>
        </p:txBody>
      </p:sp>
      <p:sp>
        <p:nvSpPr>
          <p:cNvPr id="12" name="Text 10"/>
          <p:cNvSpPr txBox="1"/>
          <p:nvPr/>
        </p:nvSpPr>
        <p:spPr>
          <a:xfrm>
            <a:off x="4800600" y="1847088"/>
            <a:ext cx="1691640" cy="245059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177 rows broke rules: age under 18 or over 100, negative quantity or discount, negative shipping days, rating outside 1-5.</a:t>
            </a:r>
            <a:endParaRPr lang="en-US" sz="1100" dirty="0"/>
          </a:p>
        </p:txBody>
      </p:sp>
      <p:sp>
        <p:nvSpPr>
          <p:cNvPr id="13" name="Shape 11"/>
          <p:cNvSpPr/>
          <p:nvPr/>
        </p:nvSpPr>
        <p:spPr>
          <a:xfrm>
            <a:off x="6766560" y="1371600"/>
            <a:ext cx="1920240" cy="3017520"/>
          </a:xfrm>
          <a:prstGeom prst="roundRect">
            <a:avLst>
              <a:gd name="adj" fmla="val 3810"/>
            </a:avLst>
          </a:prstGeom>
          <a:solidFill>
            <a:srgbClr val="11593F"/>
          </a:solidFill>
          <a:ln w="12700">
            <a:solidFill>
              <a:srgbClr val="11593F"/>
            </a:solidFill>
            <a:prstDash val="solid"/>
          </a:ln>
        </p:spPr>
      </p:sp>
      <p:sp>
        <p:nvSpPr>
          <p:cNvPr id="14" name="Text 12"/>
          <p:cNvSpPr txBox="1"/>
          <p:nvPr/>
        </p:nvSpPr>
        <p:spPr>
          <a:xfrm>
            <a:off x="6903720" y="1463040"/>
            <a:ext cx="164592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Inconsistent text</a:t>
            </a:r>
            <a:endParaRPr lang="en-US" sz="1400" dirty="0"/>
          </a:p>
        </p:txBody>
      </p:sp>
      <p:sp>
        <p:nvSpPr>
          <p:cNvPr id="15" name="Text 13"/>
          <p:cNvSpPr txBox="1"/>
          <p:nvPr/>
        </p:nvSpPr>
        <p:spPr>
          <a:xfrm>
            <a:off x="6903720" y="1847088"/>
            <a:ext cx="1645920" cy="245059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City had 21 spellings for 10 cities (jaipur vs Jaipur). Category had stray spaces (" Books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Step 3: Clean the data</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Each problem got a matching fix</a:t>
            </a:r>
            <a:endParaRPr lang="en-US" sz="1300" dirty="0"/>
          </a:p>
        </p:txBody>
      </p:sp>
      <p:sp>
        <p:nvSpPr>
          <p:cNvPr id="4" name="Shape 2"/>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5" name="Text 3"/>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Fixes</a:t>
            </a:r>
            <a:endParaRPr lang="en-US" sz="1400" dirty="0"/>
          </a:p>
        </p:txBody>
      </p:sp>
      <p:sp>
        <p:nvSpPr>
          <p:cNvPr id="6" name="Text 4"/>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Text: strip() and title() on City and Category.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Invalid values: set to NaN, re-check gives 0 invalid.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Dates: Order_Date converted to datetime.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Duplicates: drop_duplicates() removes 50 rows.</a:t>
            </a:r>
            <a:endParaRPr lang="en-US" sz="1200" dirty="0"/>
          </a:p>
        </p:txBody>
      </p:sp>
      <p:sp>
        <p:nvSpPr>
          <p:cNvPr id="7" name="Shape 5"/>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8" name="Text 6"/>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Filling missing values</a:t>
            </a:r>
            <a:endParaRPr lang="en-US" sz="1400" dirty="0"/>
          </a:p>
        </p:txBody>
      </p:sp>
      <p:sp>
        <p:nvSpPr>
          <p:cNvPr id="9" name="Text 7"/>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Numeric columns: median (robust to outliers).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City, Payment_Method: mode.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Money columns: recalculated from other columns (Gross = Qty x Price, Discount amount, Net Sales, Profit, Margin).</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One zero-sales row set to margin 0.</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Saved as ecommerce_customer_cleaned.csv (3,005 rows).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Step 4: Detect outliers</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IQR method on Net_Sales</a:t>
            </a:r>
            <a:endParaRPr lang="en-US" sz="1300" dirty="0"/>
          </a:p>
        </p:txBody>
      </p:sp>
      <p:sp>
        <p:nvSpPr>
          <p:cNvPr id="4" name="Shape 2"/>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5" name="Text 3"/>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Method</a:t>
            </a:r>
            <a:endParaRPr lang="en-US" sz="1400" dirty="0"/>
          </a:p>
        </p:txBody>
      </p:sp>
      <p:sp>
        <p:nvSpPr>
          <p:cNvPr id="6" name="Text 4"/>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Q1 and Q3 give IQR = Q3 - Q1.</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Lower limit = Q1 - 1.5 x IQR</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Upper limit = Q3 + 1.5 x IQR</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Orders outside the limits are outliers.</a:t>
            </a:r>
            <a:endParaRPr lang="en-US" sz="1250" dirty="0"/>
          </a:p>
        </p:txBody>
      </p:sp>
      <p:sp>
        <p:nvSpPr>
          <p:cNvPr id="7" name="Shape 5"/>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8" name="Text 6"/>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Result</a:t>
            </a:r>
            <a:endParaRPr lang="en-US" sz="1400" dirty="0"/>
          </a:p>
        </p:txBody>
      </p:sp>
      <p:sp>
        <p:nvSpPr>
          <p:cNvPr id="9" name="Text 7"/>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302 outlier orders found (roughly 10% of rows), with Net_Sales such as 26,531 and 25,649.</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 notebook flagged them but kept them: high-value orders can be real sales, so removal is a business decision.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1: Sales performance</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Which products, categories, regions and channels earn the most?</a:t>
            </a:r>
            <a:endParaRPr lang="en-US" sz="1300" dirty="0"/>
          </a:p>
        </p:txBody>
      </p:sp>
      <p:graphicFrame>
        <p:nvGraphicFramePr>
          <p:cNvPr id="4" name="Chart 0" descr=""/>
          <p:cNvGraphicFramePr/>
          <p:nvPr/>
        </p:nvGraphicFramePr>
        <p:xfrm>
          <a:off x="457200" y="1280160"/>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280160"/>
            <a:ext cx="3200400" cy="3200400"/>
          </a:xfrm>
          <a:prstGeom prst="roundRect">
            <a:avLst>
              <a:gd name="adj" fmla="val 2286"/>
            </a:avLst>
          </a:prstGeom>
          <a:solidFill>
            <a:srgbClr val="11593F"/>
          </a:solidFill>
          <a:ln w="12700">
            <a:solidFill>
              <a:srgbClr val="11593F"/>
            </a:solidFill>
            <a:prstDash val="solid"/>
          </a:ln>
        </p:spPr>
      </p:sp>
      <p:sp>
        <p:nvSpPr>
          <p:cNvPr id="6" name="Text 3"/>
          <p:cNvSpPr txBox="1"/>
          <p:nvPr/>
        </p:nvSpPr>
        <p:spPr>
          <a:xfrm>
            <a:off x="5623560" y="1371600"/>
            <a:ext cx="292608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Top performers</a:t>
            </a:r>
            <a:endParaRPr lang="en-US" sz="1400" dirty="0"/>
          </a:p>
        </p:txBody>
      </p:sp>
      <p:sp>
        <p:nvSpPr>
          <p:cNvPr id="7" name="Text 4"/>
          <p:cNvSpPr txBox="1"/>
          <p:nvPr/>
        </p:nvSpPr>
        <p:spPr>
          <a:xfrm>
            <a:off x="5623560" y="1755648"/>
            <a:ext cx="2926080" cy="263347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Product: Treadmill (1.64M)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Category: Fashion (1.83M)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Region: Central (2.94M)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City: Chennai (1.72M)</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Channel: Online (3.77M)</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Method: groupby + sum + sort_values.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2: Customer satisfaction</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Do ratings, shipping time or returns explain satisfaction?</a:t>
            </a:r>
            <a:endParaRPr lang="en-US" sz="1300" dirty="0"/>
          </a:p>
        </p:txBody>
      </p:sp>
      <p:sp>
        <p:nvSpPr>
          <p:cNvPr id="4" name="Shape 2"/>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5" name="Text 3"/>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Findings</a:t>
            </a:r>
            <a:endParaRPr lang="en-US" sz="1400" dirty="0"/>
          </a:p>
        </p:txBody>
      </p:sp>
      <p:sp>
        <p:nvSpPr>
          <p:cNvPr id="6" name="Text 4"/>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Satisfaction: mean 3.67, median 3.7 (scale 1-5).</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Returned orders average 3.60 vs 3.68 for non-returned.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Order status barely moves it: all statuses average 3.66 to 3.76.</a:t>
            </a:r>
            <a:endParaRPr lang="en-US" sz="1200" dirty="0"/>
          </a:p>
        </p:txBody>
      </p:sp>
      <p:sp>
        <p:nvSpPr>
          <p:cNvPr id="7" name="Shape 5"/>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8" name="Text 6"/>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Correlation with satisfaction</a:t>
            </a:r>
            <a:endParaRPr lang="en-US" sz="1400" dirty="0"/>
          </a:p>
        </p:txBody>
      </p:sp>
      <p:sp>
        <p:nvSpPr>
          <p:cNvPr id="9" name="Text 7"/>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Customer rating: -0.003</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Delivery rating: -0.011</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Shipping days: 0.007</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All near zero, so these factors alone do not explain satisfaction. Tools: scatter plots, bar plot, correlation heatmap.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3: Order status and sales</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How do order outcomes affect sales and profit?</a:t>
            </a:r>
            <a:endParaRPr lang="en-US" sz="1300" dirty="0"/>
          </a:p>
        </p:txBody>
      </p:sp>
      <p:graphicFrame>
        <p:nvGraphicFramePr>
          <p:cNvPr id="4" name="Chart 0" descr=""/>
          <p:cNvGraphicFramePr/>
          <p:nvPr/>
        </p:nvGraphicFramePr>
        <p:xfrm>
          <a:off x="457200" y="1280160"/>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280160"/>
            <a:ext cx="3200400" cy="3200400"/>
          </a:xfrm>
          <a:prstGeom prst="roundRect">
            <a:avLst>
              <a:gd name="adj" fmla="val 2286"/>
            </a:avLst>
          </a:prstGeom>
          <a:solidFill>
            <a:srgbClr val="11593F"/>
          </a:solidFill>
          <a:ln w="12700">
            <a:solidFill>
              <a:srgbClr val="11593F"/>
            </a:solidFill>
            <a:prstDash val="solid"/>
          </a:ln>
        </p:spPr>
      </p:sp>
      <p:sp>
        <p:nvSpPr>
          <p:cNvPr id="6" name="Text 3"/>
          <p:cNvSpPr txBox="1"/>
          <p:nvPr/>
        </p:nvSpPr>
        <p:spPr>
          <a:xfrm>
            <a:off x="5623560" y="1371600"/>
            <a:ext cx="292608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Insights</a:t>
            </a:r>
            <a:endParaRPr lang="en-US" sz="1400" dirty="0"/>
          </a:p>
        </p:txBody>
      </p:sp>
      <p:sp>
        <p:nvSpPr>
          <p:cNvPr id="7" name="Text 4"/>
          <p:cNvSpPr txBox="1"/>
          <p:nvPr/>
        </p:nvSpPr>
        <p:spPr>
          <a:xfrm>
            <a:off x="5623560" y="1755648"/>
            <a:ext cx="2926080" cy="263347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Delivered: 2,168 orders, 9.35M sales, 2.74M profit.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No status has negative profit.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Returned orders have the highest average sale (5,787), so returns are costly.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Analysis 4: Discount and profit</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Do bigger discounts lift sales or hurt margin?</a:t>
            </a:r>
            <a:endParaRPr lang="en-US" sz="1300" dirty="0"/>
          </a:p>
        </p:txBody>
      </p:sp>
      <p:graphicFrame>
        <p:nvGraphicFramePr>
          <p:cNvPr id="4" name="Chart 0" descr=""/>
          <p:cNvGraphicFramePr/>
          <p:nvPr/>
        </p:nvGraphicFramePr>
        <p:xfrm>
          <a:off x="457200" y="1280160"/>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280160"/>
            <a:ext cx="3200400" cy="3200400"/>
          </a:xfrm>
          <a:prstGeom prst="roundRect">
            <a:avLst>
              <a:gd name="adj" fmla="val 2286"/>
            </a:avLst>
          </a:prstGeom>
          <a:solidFill>
            <a:srgbClr val="11593F"/>
          </a:solidFill>
          <a:ln w="12700">
            <a:solidFill>
              <a:srgbClr val="11593F"/>
            </a:solidFill>
            <a:prstDash val="solid"/>
          </a:ln>
        </p:spPr>
      </p:sp>
      <p:sp>
        <p:nvSpPr>
          <p:cNvPr id="6" name="Text 3"/>
          <p:cNvSpPr txBox="1"/>
          <p:nvPr/>
        </p:nvSpPr>
        <p:spPr>
          <a:xfrm>
            <a:off x="5623560" y="1371600"/>
            <a:ext cx="292608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Insights</a:t>
            </a:r>
            <a:endParaRPr lang="en-US" sz="1400" dirty="0"/>
          </a:p>
        </p:txBody>
      </p:sp>
      <p:sp>
        <p:nvSpPr>
          <p:cNvPr id="7" name="Text 4"/>
          <p:cNvSpPr txBox="1"/>
          <p:nvPr/>
        </p:nvSpPr>
        <p:spPr>
          <a:xfrm>
            <a:off x="5623560" y="1755648"/>
            <a:ext cx="2926080" cy="263347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Correlation with net sales -0.07, profit -0.06, margin -0.004: very weak.</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Average order value falls as discounts rise (5,050 to 2,047).</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Margin by group is uneven: lowest at 10-20% (14.7%), highest at 40%+ (30.1%).</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insights from the EDA</a:t>
            </a:r>
            <a:endParaRPr lang="en-US" sz="2600" dirty="0"/>
          </a:p>
        </p:txBody>
      </p:sp>
      <p:sp>
        <p:nvSpPr>
          <p:cNvPr id="3" name="Shape 1"/>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4" name="Text 2"/>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Business insights</a:t>
            </a:r>
            <a:endParaRPr lang="en-US" sz="1400" dirty="0"/>
          </a:p>
        </p:txBody>
      </p:sp>
      <p:sp>
        <p:nvSpPr>
          <p:cNvPr id="5" name="Text 3"/>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Sales: Treadmill, Fashion, Central, Chennai and Online lead.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Delivered orders drive most sales and profit.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Higher discounts do not bring bigger orders.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Satisfaction is moderate (3.67) and not explained by rating, delivery rating or shipping days.</a:t>
            </a:r>
            <a:endParaRPr lang="en-US" sz="1200" dirty="0"/>
          </a:p>
        </p:txBody>
      </p:sp>
      <p:sp>
        <p:nvSpPr>
          <p:cNvPr id="6" name="Shape 4"/>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7" name="Text 5"/>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Data insights</a:t>
            </a:r>
            <a:endParaRPr lang="en-US" sz="1400" dirty="0"/>
          </a:p>
        </p:txBody>
      </p:sp>
      <p:sp>
        <p:nvSpPr>
          <p:cNvPr id="8" name="Text 6"/>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About 1 in 6 rows needed a fix (missing, invalid, duplicate or messy text).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302 high-value outliers remain.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Shipping_Days has an extreme value of 35 days.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Many columns show weak links, so more features are needed to explain satisfaction.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Beyond EDA: first models</a:t>
            </a:r>
            <a:endParaRPr lang="en-US" sz="26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300" dirty="0">
                <a:solidFill>
                  <a:srgbClr val="5EE0A0"/>
                </a:solidFill>
                <a:latin typeface="Calibri" pitchFamily="34" charset="0"/>
                <a:ea typeface="Calibri" pitchFamily="34" charset="-122"/>
                <a:cs typeface="Calibri" pitchFamily="34" charset="-120"/>
              </a:rPr>
              <a:t>The cleaned data was used for simple predictions</a:t>
            </a:r>
            <a:endParaRPr lang="en-US" sz="1300" dirty="0"/>
          </a:p>
        </p:txBody>
      </p:sp>
      <p:sp>
        <p:nvSpPr>
          <p:cNvPr id="4" name="Shape 2"/>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5" name="Text 3"/>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Linear regression: predict Net Sales</a:t>
            </a:r>
            <a:endParaRPr lang="en-US" sz="1400" dirty="0"/>
          </a:p>
        </p:txBody>
      </p:sp>
      <p:sp>
        <p:nvSpPr>
          <p:cNvPr id="6" name="Text 4"/>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80/20 split, scaled numeric features.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R2 = 0.78</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MAE = 1,385</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RMSE = 3,781</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Some predictions are negative, so the model needs improvement.</a:t>
            </a:r>
            <a:endParaRPr lang="en-US" sz="1200" dirty="0"/>
          </a:p>
        </p:txBody>
      </p:sp>
      <p:sp>
        <p:nvSpPr>
          <p:cNvPr id="7" name="Shape 5"/>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8" name="Text 6"/>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Logistic regression: high satisfaction</a:t>
            </a:r>
            <a:endParaRPr lang="en-US" sz="1400" dirty="0"/>
          </a:p>
        </p:txBody>
      </p:sp>
      <p:sp>
        <p:nvSpPr>
          <p:cNvPr id="9" name="Text 7"/>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Target: satisfaction of 4 or more.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Accuracy 61.6%, precision 31%, recall 3.6%.</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The model almost never finds satisfied customers, matching the weak correlations seen in EDA.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3B2C"/>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Takeaways and next steps</a:t>
            </a:r>
            <a:endParaRPr lang="en-US" sz="2600" dirty="0"/>
          </a:p>
        </p:txBody>
      </p:sp>
      <p:sp>
        <p:nvSpPr>
          <p:cNvPr id="3" name="Shape 1"/>
          <p:cNvSpPr/>
          <p:nvPr/>
        </p:nvSpPr>
        <p:spPr>
          <a:xfrm>
            <a:off x="457200" y="1371600"/>
            <a:ext cx="4023360" cy="3017520"/>
          </a:xfrm>
          <a:prstGeom prst="roundRect">
            <a:avLst>
              <a:gd name="adj" fmla="val 2424"/>
            </a:avLst>
          </a:prstGeom>
          <a:solidFill>
            <a:srgbClr val="11593F"/>
          </a:solidFill>
          <a:ln w="12700">
            <a:solidFill>
              <a:srgbClr val="11593F"/>
            </a:solidFill>
            <a:prstDash val="solid"/>
          </a:ln>
        </p:spPr>
      </p:sp>
      <p:sp>
        <p:nvSpPr>
          <p:cNvPr id="4" name="Text 2"/>
          <p:cNvSpPr txBox="1"/>
          <p:nvPr/>
        </p:nvSpPr>
        <p:spPr>
          <a:xfrm>
            <a:off x="59436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EDA checklist</a:t>
            </a:r>
            <a:endParaRPr lang="en-US" sz="1400" dirty="0"/>
          </a:p>
        </p:txBody>
      </p:sp>
      <p:sp>
        <p:nvSpPr>
          <p:cNvPr id="5" name="Text 3"/>
          <p:cNvSpPr txBox="1"/>
          <p:nvPr/>
        </p:nvSpPr>
        <p:spPr>
          <a:xfrm>
            <a:off x="59436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1. Inspect shape, types, summary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2. Find missing, duplicate, invalid, inconsistent data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3. Clean with documented rules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4. Check outliers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5. Answer business questions with groupby and charts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6. Write conclusions</a:t>
            </a:r>
            <a:endParaRPr lang="en-US" sz="1200" dirty="0"/>
          </a:p>
        </p:txBody>
      </p:sp>
      <p:sp>
        <p:nvSpPr>
          <p:cNvPr id="6" name="Shape 4"/>
          <p:cNvSpPr/>
          <p:nvPr/>
        </p:nvSpPr>
        <p:spPr>
          <a:xfrm>
            <a:off x="4663440" y="1371600"/>
            <a:ext cx="4023360" cy="3017520"/>
          </a:xfrm>
          <a:prstGeom prst="roundRect">
            <a:avLst>
              <a:gd name="adj" fmla="val 2424"/>
            </a:avLst>
          </a:prstGeom>
          <a:solidFill>
            <a:srgbClr val="11593F"/>
          </a:solidFill>
          <a:ln w="12700">
            <a:solidFill>
              <a:srgbClr val="11593F"/>
            </a:solidFill>
            <a:prstDash val="solid"/>
          </a:ln>
        </p:spPr>
      </p:sp>
      <p:sp>
        <p:nvSpPr>
          <p:cNvPr id="7" name="Text 5"/>
          <p:cNvSpPr txBox="1"/>
          <p:nvPr/>
        </p:nvSpPr>
        <p:spPr>
          <a:xfrm>
            <a:off x="4800600" y="1463040"/>
            <a:ext cx="3749040" cy="365760"/>
          </a:xfrm>
          <a:prstGeom prst="rect">
            <a:avLst/>
          </a:prstGeom>
          <a:noFill/>
          <a:ln/>
        </p:spPr>
        <p:txBody>
          <a:bodyPr wrap="square" lIns="0" tIns="0" rIns="0" bIns="0" rtlCol="0" anchor="ctr"/>
          <a:lstStyle/>
          <a:p>
            <a:pPr indent="0" marL="0">
              <a:buNone/>
            </a:pPr>
            <a:r>
              <a:rPr lang="en-US" sz="1400" b="1" dirty="0">
                <a:solidFill>
                  <a:srgbClr val="5EE0A0"/>
                </a:solidFill>
                <a:latin typeface="Calibri" pitchFamily="34" charset="0"/>
                <a:ea typeface="Calibri" pitchFamily="34" charset="-122"/>
                <a:cs typeface="Calibri" pitchFamily="34" charset="-120"/>
              </a:rPr>
              <a:t>Next steps</a:t>
            </a:r>
            <a:endParaRPr lang="en-US" sz="1400" dirty="0"/>
          </a:p>
        </p:txBody>
      </p:sp>
      <p:sp>
        <p:nvSpPr>
          <p:cNvPr id="8" name="Text 6"/>
          <p:cNvSpPr txBox="1"/>
          <p:nvPr/>
        </p:nvSpPr>
        <p:spPr>
          <a:xfrm>
            <a:off x="4800600" y="1847088"/>
            <a:ext cx="3749040" cy="245059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Analyze trends by month using Order_Date.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Investigate the 35-day shipping record.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Test new features for satisfaction (product, marketing source, loyalty).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Try tree-based models and check for data leakage.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2026-09-28T10:08:03Z</dcterms:created>
  <dcterms:modified xsi:type="dcterms:W3CDTF">2026-09-28T10:08:03Z</dcterms:modified>
</cp:coreProperties>
</file>